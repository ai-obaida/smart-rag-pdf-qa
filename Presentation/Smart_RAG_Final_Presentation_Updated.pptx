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B7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4D6A7"/>
                </a:solidFill>
              </a:defRPr>
            </a:pPr>
            <a:r>
              <a:t>SMART RAG  /  GRADUATION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8FF"/>
                </a:solidFill>
              </a:defRPr>
            </a:pPr>
            <a:r>
              <a:t>Smart RAG PDF QA &amp; Information Extraction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10881360" cy="658368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09728"/>
          <a:lstStyle/>
          <a:p>
            <a:pPr algn="ctr">
              <a:defRPr sz="1900">
                <a:solidFill>
                  <a:srgbClr val="F5F8FF"/>
                </a:solidFill>
              </a:defRPr>
            </a:pPr>
            <a:r>
              <a:t>AI-powered question answering over uploaded PDF documents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52344"/>
            <a:ext cx="10881360" cy="658368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09728"/>
          <a:lstStyle/>
          <a:p>
            <a:pPr algn="ctr">
              <a:defRPr sz="1900">
                <a:solidFill>
                  <a:srgbClr val="F5F8FF"/>
                </a:solidFill>
              </a:defRPr>
            </a:pPr>
            <a:r>
              <a:t>Multilingual semantic retrieval with source and page citations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538727"/>
            <a:ext cx="10881360" cy="658368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09728"/>
          <a:lstStyle/>
          <a:p>
            <a:pPr algn="ctr">
              <a:defRPr sz="1900">
                <a:solidFill>
                  <a:srgbClr val="F5F8FF"/>
                </a:solidFill>
              </a:defRPr>
            </a:pPr>
            <a:r>
              <a:t>Flask + PostgreSQL/pgvector + Ollama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28192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FBED2"/>
                </a:solidFill>
              </a:defRPr>
            </a:pPr>
            <a:r>
              <a:t>Academic graduation project | Local demonstration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B7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4D6A7"/>
                </a:solidFill>
              </a:defRPr>
            </a:pPr>
            <a:r>
              <a:t>SMART RAG  /  GRADUATION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8FF"/>
                </a:solidFill>
              </a:defRPr>
            </a:pPr>
            <a:r>
              <a:t>Problem &amp; Motivation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10881360" cy="658368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09728"/>
          <a:lstStyle/>
          <a:p>
            <a:pPr algn="ctr">
              <a:defRPr sz="1900">
                <a:solidFill>
                  <a:srgbClr val="F5F8FF"/>
                </a:solidFill>
              </a:defRPr>
            </a:pPr>
            <a:r>
              <a:t>Long PDF documents are time-consuming to search manually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52344"/>
            <a:ext cx="10881360" cy="658368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09728"/>
          <a:lstStyle/>
          <a:p>
            <a:pPr algn="ctr">
              <a:defRPr sz="1900">
                <a:solidFill>
                  <a:srgbClr val="F5F8FF"/>
                </a:solidFill>
              </a:defRPr>
            </a:pPr>
            <a:r>
              <a:t>Keyword search may miss semantically relevant passages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538727"/>
            <a:ext cx="10881360" cy="658368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09728"/>
          <a:lstStyle/>
          <a:p>
            <a:pPr algn="ctr">
              <a:defRPr sz="1900">
                <a:solidFill>
                  <a:srgbClr val="F5F8FF"/>
                </a:solidFill>
              </a:defRPr>
            </a:pPr>
            <a:r>
              <a:t>Users need traceable answers rather than unsupported summaries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B7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4D6A7"/>
                </a:solidFill>
              </a:defRPr>
            </a:pPr>
            <a:r>
              <a:t>SMART RAG  /  GRADUATION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8FF"/>
                </a:solidFill>
              </a:defRPr>
            </a:pPr>
            <a:r>
              <a:t>Project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10881360" cy="658368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09728"/>
          <a:lstStyle/>
          <a:p>
            <a:pPr algn="ctr">
              <a:defRPr sz="1900">
                <a:solidFill>
                  <a:srgbClr val="F5F8FF"/>
                </a:solidFill>
              </a:defRPr>
            </a:pPr>
            <a:r>
              <a:t>Upload and index text-based PDF files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52344"/>
            <a:ext cx="10881360" cy="658368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09728"/>
          <a:lstStyle/>
          <a:p>
            <a:pPr algn="ctr">
              <a:defRPr sz="1900">
                <a:solidFill>
                  <a:srgbClr val="F5F8FF"/>
                </a:solidFill>
              </a:defRPr>
            </a:pPr>
            <a:r>
              <a:t>Ask questions in English or Arabic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538727"/>
            <a:ext cx="10881360" cy="658368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09728"/>
          <a:lstStyle/>
          <a:p>
            <a:pPr algn="ctr">
              <a:defRPr sz="1900">
                <a:solidFill>
                  <a:srgbClr val="F5F8FF"/>
                </a:solidFill>
              </a:defRPr>
            </a:pPr>
            <a:r>
              <a:t>Return grounded answers with document and page references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325112"/>
            <a:ext cx="10881360" cy="658368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09728"/>
          <a:lstStyle/>
          <a:p>
            <a:pPr algn="ctr">
              <a:defRPr sz="1900">
                <a:solidFill>
                  <a:srgbClr val="F5F8FF"/>
                </a:solidFill>
              </a:defRPr>
            </a:pPr>
            <a:r>
              <a:t>Provide a usable web dashboard and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B7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4D6A7"/>
                </a:solidFill>
              </a:defRPr>
            </a:pPr>
            <a:r>
              <a:t>SMART RAG  /  GRADUATION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8FF"/>
                </a:solidFill>
              </a:defRPr>
            </a:pPr>
            <a:r>
              <a:t>Solution Workflow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10881360" cy="658368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09728"/>
          <a:lstStyle/>
          <a:p>
            <a:pPr algn="ctr">
              <a:defRPr sz="1900">
                <a:solidFill>
                  <a:srgbClr val="F5F8FF"/>
                </a:solidFill>
              </a:defRPr>
            </a:pPr>
            <a:r>
              <a:t>PDF upload → validation → page-wise text extraction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52344"/>
            <a:ext cx="10881360" cy="658368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09728"/>
          <a:lstStyle/>
          <a:p>
            <a:pPr algn="ctr">
              <a:defRPr sz="1900">
                <a:solidFill>
                  <a:srgbClr val="F5F8FF"/>
                </a:solidFill>
              </a:defRPr>
            </a:pPr>
            <a:r>
              <a:t>Text chunking → 384-dimensional embeddings → pgvector storage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538727"/>
            <a:ext cx="10881360" cy="658368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09728"/>
          <a:lstStyle/>
          <a:p>
            <a:pPr algn="ctr">
              <a:defRPr sz="1900">
                <a:solidFill>
                  <a:srgbClr val="F5F8FF"/>
                </a:solidFill>
              </a:defRPr>
            </a:pPr>
            <a:r>
              <a:t>Question → semantic retrieval → LLM generation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325112"/>
            <a:ext cx="10881360" cy="658368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09728"/>
          <a:lstStyle/>
          <a:p>
            <a:pPr algn="ctr">
              <a:defRPr sz="1900">
                <a:solidFill>
                  <a:srgbClr val="F5F8FF"/>
                </a:solidFill>
              </a:defRPr>
            </a:pPr>
            <a:r>
              <a:t>Citation entailment and relevance checks → structured response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B7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4D6A7"/>
                </a:solidFill>
              </a:defRPr>
            </a:pPr>
            <a:r>
              <a:t>SMART RAG  /  GRADUATION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8FF"/>
                </a:solidFill>
              </a:defRPr>
            </a:pPr>
            <a:r>
              <a:t>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10881360" cy="658368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09728"/>
          <a:lstStyle/>
          <a:p>
            <a:pPr algn="ctr">
              <a:defRPr sz="1900">
                <a:solidFill>
                  <a:srgbClr val="F5F8FF"/>
                </a:solidFill>
              </a:defRPr>
            </a:pPr>
            <a:r>
              <a:t>Frontend: HTML, Bootstrap, JavaScript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52344"/>
            <a:ext cx="10881360" cy="658368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09728"/>
          <a:lstStyle/>
          <a:p>
            <a:pPr algn="ctr">
              <a:defRPr sz="1900">
                <a:solidFill>
                  <a:srgbClr val="F5F8FF"/>
                </a:solidFill>
              </a:defRPr>
            </a:pPr>
            <a:r>
              <a:t>Backend: Flask endpoints for upload, documents and questions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538727"/>
            <a:ext cx="10881360" cy="658368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09728"/>
          <a:lstStyle/>
          <a:p>
            <a:pPr algn="ctr">
              <a:defRPr sz="1900">
                <a:solidFill>
                  <a:srgbClr val="F5F8FF"/>
                </a:solidFill>
              </a:defRPr>
            </a:pPr>
            <a:r>
              <a:t>Services: extraction, indexing, retrieval, generation and validation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325112"/>
            <a:ext cx="10881360" cy="658368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09728"/>
          <a:lstStyle/>
          <a:p>
            <a:pPr algn="ctr">
              <a:defRPr sz="1900">
                <a:solidFill>
                  <a:srgbClr val="F5F8FF"/>
                </a:solidFill>
              </a:defRPr>
            </a:pPr>
            <a:r>
              <a:t>Storage: PostgreSQL 18 + pgvector; inference: local Ollama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B7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4D6A7"/>
                </a:solidFill>
              </a:defRPr>
            </a:pPr>
            <a:r>
              <a:t>SMART RAG  /  GRADUATION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8FF"/>
                </a:solidFill>
              </a:defRPr>
            </a:pPr>
            <a:r>
              <a:t>Database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10881360" cy="658368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09728"/>
          <a:lstStyle/>
          <a:p>
            <a:pPr algn="ctr">
              <a:defRPr sz="1900">
                <a:solidFill>
                  <a:srgbClr val="F5F8FF"/>
                </a:solidFill>
              </a:defRPr>
            </a:pPr>
            <a:r>
              <a:t>documents: ID, original safe filename, upload date, pages, extracted 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52344"/>
            <a:ext cx="10881360" cy="658368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09728"/>
          <a:lstStyle/>
          <a:p>
            <a:pPr algn="ctr">
              <a:defRPr sz="1900">
                <a:solidFill>
                  <a:srgbClr val="F5F8FF"/>
                </a:solidFill>
              </a:defRPr>
            </a:pPr>
            <a:r>
              <a:t>document_chunks: document ID, page number, chunk index, text, vector(384)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538727"/>
            <a:ext cx="10881360" cy="658368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09728"/>
          <a:lstStyle/>
          <a:p>
            <a:pPr algn="ctr">
              <a:defRPr sz="1900">
                <a:solidFill>
                  <a:srgbClr val="F5F8FF"/>
                </a:solidFill>
              </a:defRPr>
            </a:pPr>
            <a:r>
              <a:t>Foreign key relates chunks to documents; pgvector supports semantic similarity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325112"/>
            <a:ext cx="10881360" cy="658368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09728"/>
          <a:lstStyle/>
          <a:p>
            <a:pPr algn="ctr">
              <a:defRPr sz="1900">
                <a:solidFill>
                  <a:srgbClr val="F5F8FF"/>
                </a:solidFill>
              </a:defRPr>
            </a:pPr>
            <a:r>
              <a:t>Document uses SQLAlchemy ORM; chunks use parameterized 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28192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FBED2"/>
                </a:solidFill>
              </a:defRPr>
            </a:pPr>
            <a:r>
              <a:t>Schema initialized on a NEW, EMPTY database via schema.sql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B7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4D6A7"/>
                </a:solidFill>
              </a:defRPr>
            </a:pPr>
            <a:r>
              <a:t>SMART RAG  /  GRADUATION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8FF"/>
                </a:solidFill>
              </a:defRPr>
            </a:pPr>
            <a:r>
              <a:t>AI / NLP Component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10881360" cy="658368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09728"/>
          <a:lstStyle/>
          <a:p>
            <a:pPr algn="ctr">
              <a:defRPr sz="1900">
                <a:solidFill>
                  <a:srgbClr val="F5F8FF"/>
                </a:solidFill>
              </a:defRPr>
            </a:pPr>
            <a:r>
              <a:t>Embedding model: intfloat/multilingual-e5-small (384 dimensions)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52344"/>
            <a:ext cx="10881360" cy="658368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09728"/>
          <a:lstStyle/>
          <a:p>
            <a:pPr algn="ctr">
              <a:defRPr sz="1900">
                <a:solidFill>
                  <a:srgbClr val="F5F8FF"/>
                </a:solidFill>
              </a:defRPr>
            </a:pPr>
            <a:r>
              <a:t>Generation: qwen2.5:7b; validation: qwen2.5:3b via Ollama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538727"/>
            <a:ext cx="10881360" cy="658368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09728"/>
          <a:lstStyle/>
          <a:p>
            <a:pPr algn="ctr">
              <a:defRPr sz="1900">
                <a:solidFill>
                  <a:srgbClr val="F5F8FF"/>
                </a:solidFill>
              </a:defRPr>
            </a:pPr>
            <a:r>
              <a:t>Retrieval-augmented generation limits answers to indexed document evidence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325112"/>
            <a:ext cx="10881360" cy="658368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09728"/>
          <a:lstStyle/>
          <a:p>
            <a:pPr algn="ctr">
              <a:defRPr sz="1900">
                <a:solidFill>
                  <a:srgbClr val="F5F8FF"/>
                </a:solidFill>
              </a:defRPr>
            </a:pPr>
            <a:r>
              <a:t>Additional checks assess citation support and question relevance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B7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4D6A7"/>
                </a:solidFill>
              </a:defRPr>
            </a:pPr>
            <a:r>
              <a:t>SMART RAG  /  GRADUATION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8FF"/>
                </a:solidFill>
              </a:defRPr>
            </a:pPr>
            <a:r>
              <a:t>Live Demo Plan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10881360" cy="658368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09728"/>
          <a:lstStyle/>
          <a:p>
            <a:pPr algn="ctr">
              <a:defRPr sz="1900">
                <a:solidFill>
                  <a:srgbClr val="F5F8FF"/>
                </a:solidFill>
              </a:defRPr>
            </a:pPr>
            <a:r>
              <a:t>1. Open http://127.0.0.1:5000 and view indexed documents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52344"/>
            <a:ext cx="10881360" cy="658368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09728"/>
          <a:lstStyle/>
          <a:p>
            <a:pPr algn="ctr">
              <a:defRPr sz="1900">
                <a:solidFill>
                  <a:srgbClr val="F5F8FF"/>
                </a:solidFill>
              </a:defRPr>
            </a:pPr>
            <a:r>
              <a:t>2. Upload a text-based PDF and wait for indexing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538727"/>
            <a:ext cx="10881360" cy="658368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09728"/>
          <a:lstStyle/>
          <a:p>
            <a:pPr algn="ctr">
              <a:defRPr sz="1900">
                <a:solidFill>
                  <a:srgbClr val="F5F8FF"/>
                </a:solidFill>
              </a:defRPr>
            </a:pPr>
            <a:r>
              <a:t>3. Select the document and ask a factual question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325112"/>
            <a:ext cx="10881360" cy="658368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09728"/>
          <a:lstStyle/>
          <a:p>
            <a:pPr algn="ctr">
              <a:defRPr sz="1900">
                <a:solidFill>
                  <a:srgbClr val="F5F8FF"/>
                </a:solidFill>
              </a:defRPr>
            </a:pPr>
            <a:r>
              <a:t>4. Review answer items, page numbers and source identifiers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28192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FBED2"/>
                </a:solidFill>
              </a:defRPr>
            </a:pPr>
            <a:r>
              <a:t>Live demo depends on local PostgreSQL, Ollama and Flask being active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B7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4D6A7"/>
                </a:solidFill>
              </a:defRPr>
            </a:pPr>
            <a:r>
              <a:t>SMART RAG  /  GRADUATION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8FF"/>
                </a:solidFill>
              </a:defRPr>
            </a:pPr>
            <a:r>
              <a:t>Observed Performance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10881360" cy="658368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09728"/>
          <a:lstStyle/>
          <a:p>
            <a:pPr algn="ctr">
              <a:defRPr sz="1900">
                <a:solidFill>
                  <a:srgbClr val="F5F8FF"/>
                </a:solidFill>
              </a:defRPr>
            </a:pPr>
            <a:r>
              <a:t>14 of 14 existing documents marked ready; sample document: 14 pages, 18 chunks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52344"/>
            <a:ext cx="10881360" cy="658368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09728"/>
          <a:lstStyle/>
          <a:p>
            <a:pPr algn="ctr">
              <a:defRPr sz="1900">
                <a:solidFill>
                  <a:srgbClr val="F5F8FF"/>
                </a:solidFill>
              </a:defRPr>
            </a:pPr>
            <a:r>
              <a:t>Three timed question requests: 5.064 s, 5.027 s, 6.587 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538727"/>
            <a:ext cx="10881360" cy="658368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09728"/>
          <a:lstStyle/>
          <a:p>
            <a:pPr algn="ctr">
              <a:defRPr sz="1900">
                <a:solidFill>
                  <a:srgbClr val="F5F8FF"/>
                </a:solidFill>
              </a:defRPr>
            </a:pPr>
            <a:r>
              <a:t>Mean latency: 5.559 s; all three returned status=answered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325112"/>
            <a:ext cx="10881360" cy="658368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09728"/>
          <a:lstStyle/>
          <a:p>
            <a:pPr algn="ctr">
              <a:defRPr sz="1900">
                <a:solidFill>
                  <a:srgbClr val="F5F8FF"/>
                </a:solidFill>
              </a:defRPr>
            </a:pPr>
            <a:r>
              <a:t>Flask process memory: 2047.03 MB → 2058.09 MB (+11.06 MB)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28192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FBED2"/>
                </a:solidFill>
              </a:defRPr>
            </a:pPr>
            <a:r>
              <a:t>One-document, three-request benchmark; memory excludes Ollama/PostgreSQL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B7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4D6A7"/>
                </a:solidFill>
              </a:defRPr>
            </a:pPr>
            <a:r>
              <a:t>SMART RAG  /  GRADUATION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8FF"/>
                </a:solidFill>
              </a:defRPr>
            </a:pPr>
            <a:r>
              <a:t>Answer Quality &amp; Evaluation Limits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10881360" cy="658368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09728"/>
          <a:lstStyle/>
          <a:p>
            <a:pPr algn="ctr">
              <a:defRPr sz="1900">
                <a:solidFill>
                  <a:srgbClr val="F5F8FF"/>
                </a:solidFill>
              </a:defRPr>
            </a:pPr>
            <a:r>
              <a:t>Three tested questions returned plausible document-grounded answers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52344"/>
            <a:ext cx="10881360" cy="658368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09728"/>
          <a:lstStyle/>
          <a:p>
            <a:pPr algn="ctr">
              <a:defRPr sz="1900">
                <a:solidFill>
                  <a:srgbClr val="F5F8FF"/>
                </a:solidFill>
              </a:defRPr>
            </a:pPr>
            <a:r>
              <a:t>Backend framework question correctly identified Django and Flask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538727"/>
            <a:ext cx="10881360" cy="658368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09728"/>
          <a:lstStyle/>
          <a:p>
            <a:pPr algn="ctr">
              <a:defRPr sz="1900">
                <a:solidFill>
                  <a:srgbClr val="F5F8FF"/>
                </a:solidFill>
              </a:defRPr>
            </a:pPr>
            <a:r>
              <a:t>An earlier request produced near-duplicate answer items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325112"/>
            <a:ext cx="10881360" cy="658368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09728"/>
          <a:lstStyle/>
          <a:p>
            <a:pPr algn="ctr">
              <a:defRPr sz="1900">
                <a:solidFill>
                  <a:srgbClr val="F5F8FF"/>
                </a:solidFill>
              </a:defRPr>
            </a:pPr>
            <a:r>
              <a:t>20-question strict rubric accuracy: 50% (10/20); citation accuracy not audited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28192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FBED2"/>
                </a:solidFill>
              </a:defRPr>
            </a:pPr>
            <a:r>
              <a:t>Do not equate answered status or citation-validator acceptance with ground-truth accuracy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B7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4D6A7"/>
                </a:solidFill>
              </a:defRPr>
            </a:pPr>
            <a:r>
              <a:t>SMART RAG  /  GRADUATION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8FF"/>
                </a:solidFill>
              </a:defRPr>
            </a:pPr>
            <a:r>
              <a:t>Engineering Quality &amp; Tests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10881360" cy="658368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09728"/>
          <a:lstStyle/>
          <a:p>
            <a:pPr algn="ctr">
              <a:defRPr sz="1900">
                <a:solidFill>
                  <a:srgbClr val="F5F8FF"/>
                </a:solidFill>
              </a:defRPr>
            </a:pPr>
            <a:r>
              <a:t>Three separated Flask endpoint modules and a dedicated services layer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52344"/>
            <a:ext cx="10881360" cy="658368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09728"/>
          <a:lstStyle/>
          <a:p>
            <a:pPr algn="ctr">
              <a:defRPr sz="1900">
                <a:solidFill>
                  <a:srgbClr val="F5F8FF"/>
                </a:solidFill>
              </a:defRPr>
            </a:pPr>
            <a:r>
              <a:t>Latest full pytest run: 333 / 333 tests passed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538727"/>
            <a:ext cx="10881360" cy="658368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09728"/>
          <a:lstStyle/>
          <a:p>
            <a:pPr algn="ctr">
              <a:defRPr sz="1900">
                <a:solidFill>
                  <a:srgbClr val="F5F8FF"/>
                </a:solidFill>
              </a:defRPr>
            </a:pPr>
            <a:r>
              <a:t>No failures in the latest complete automated test run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325112"/>
            <a:ext cx="10881360" cy="658368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09728"/>
          <a:lstStyle/>
          <a:p>
            <a:pPr algn="ctr">
              <a:defRPr sz="1900">
                <a:solidFill>
                  <a:srgbClr val="F5F8FF"/>
                </a:solidFill>
              </a:defRPr>
            </a:pPr>
            <a:r>
              <a:t>Submission ZIP must exclude secrets, virtual environments, uploads and AI Team files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B7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4D6A7"/>
                </a:solidFill>
              </a:defRPr>
            </a:pPr>
            <a:r>
              <a:t>SMART RAG  /  GRADUATION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8FF"/>
                </a:solidFill>
              </a:defRPr>
            </a:pPr>
            <a:r>
              <a:t>Challenges, Limitations &amp; Improvements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10881360" cy="658368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09728"/>
          <a:lstStyle/>
          <a:p>
            <a:pPr algn="ctr">
              <a:defRPr sz="1900">
                <a:solidFill>
                  <a:srgbClr val="F5F8FF"/>
                </a:solidFill>
              </a:defRPr>
            </a:pPr>
            <a:r>
              <a:t>Scanned/image-only PDFs may require OCR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52344"/>
            <a:ext cx="10881360" cy="658368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09728"/>
          <a:lstStyle/>
          <a:p>
            <a:pPr algn="ctr">
              <a:defRPr sz="1900">
                <a:solidFill>
                  <a:srgbClr val="F5F8FF"/>
                </a:solidFill>
              </a:defRPr>
            </a:pPr>
            <a:r>
              <a:t>Retrieval can miss relevant chunks; model output may paraphrase facts incorrectly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538727"/>
            <a:ext cx="10881360" cy="658368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09728"/>
          <a:lstStyle/>
          <a:p>
            <a:pPr algn="ctr">
              <a:defRPr sz="1900">
                <a:solidFill>
                  <a:srgbClr val="F5F8FF"/>
                </a:solidFill>
              </a:defRPr>
            </a:pPr>
            <a:r>
              <a:t>Citation checks reduce risk but do not guarantee factual correctness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325112"/>
            <a:ext cx="10881360" cy="658368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09728"/>
          <a:lstStyle/>
          <a:p>
            <a:pPr algn="ctr">
              <a:defRPr sz="1900">
                <a:solidFill>
                  <a:srgbClr val="F5F8FF"/>
                </a:solidFill>
              </a:defRPr>
            </a:pPr>
            <a:r>
              <a:t>Future work: reference-set accuracy evaluation, deduplication, more robust benchmarks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4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2B7D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4D6A7"/>
                </a:solidFill>
              </a:defRPr>
            </a:pPr>
            <a:r>
              <a:t>SMART RAG  /  GRADUATION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601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5F8FF"/>
                </a:solidFill>
              </a:defRPr>
            </a:pPr>
            <a:r>
              <a:t>Conclusion &amp; Submission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10881360" cy="658368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09728"/>
          <a:lstStyle/>
          <a:p>
            <a:pPr algn="ctr">
              <a:defRPr sz="1900">
                <a:solidFill>
                  <a:srgbClr val="F5F8FF"/>
                </a:solidFill>
              </a:defRPr>
            </a:pPr>
            <a:r>
              <a:t>Functional local PDF QA system with semantic retrieval and cited responses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52344"/>
            <a:ext cx="10881360" cy="658368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09728"/>
          <a:lstStyle/>
          <a:p>
            <a:pPr algn="ctr">
              <a:defRPr sz="1900">
                <a:solidFill>
                  <a:srgbClr val="F5F8FF"/>
                </a:solidFill>
              </a:defRPr>
            </a:pPr>
            <a:r>
              <a:t>Measured response latency, answer accuracy and Flask memory documented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538727"/>
            <a:ext cx="10881360" cy="658368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09728"/>
          <a:lstStyle/>
          <a:p>
            <a:pPr algn="ctr">
              <a:defRPr sz="1900">
                <a:solidFill>
                  <a:srgbClr val="F5F8FF"/>
                </a:solidFill>
              </a:defRPr>
            </a:pPr>
            <a:r>
              <a:t>Final handoff: code ZIP, README, performance Word report and this presentation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325112"/>
            <a:ext cx="10881360" cy="658368"/>
          </a:xfrm>
          <a:prstGeom prst="roundRect">
            <a:avLst/>
          </a:prstGeom>
          <a:solidFill>
            <a:srgbClr val="17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tIns="109728"/>
          <a:lstStyle/>
          <a:p>
            <a:pPr algn="ctr">
              <a:defRPr sz="1900">
                <a:solidFill>
                  <a:srgbClr val="F5F8FF"/>
                </a:solidFill>
              </a:defRPr>
            </a:pPr>
            <a:r>
              <a:t>Publish GitHub repository and submit required links/files to Classroom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28192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FBED2"/>
                </a:solidFill>
              </a:defRPr>
            </a:pPr>
            <a:r>
              <a:t>Final ZIP packaging and submission verification required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61D4EA"/>
                </a:solidFill>
              </a:defRPr>
            </a:pPr>
            <a:r>
              <a:t>20-Question Accuracy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F0F5FC"/>
                </a:solidFill>
              </a:defRPr>
            </a:pPr>
            <a:r>
              <a:t>Strict rubric correctness: 10 / 20 = 50%</a:t>
            </a:r>
          </a:p>
          <a:p>
            <a:pPr>
              <a:defRPr sz="2200" b="0">
                <a:solidFill>
                  <a:srgbClr val="F0F5FC"/>
                </a:solidFill>
              </a:defRPr>
            </a:pPr>
            <a:r>
              <a:t>Mean response latency: 5.580 seconds</a:t>
            </a:r>
          </a:p>
          <a:p>
            <a:pPr>
              <a:defRPr sz="2200" b="0">
                <a:solidFill>
                  <a:srgbClr val="F0F5FC"/>
                </a:solidFill>
              </a:defRPr>
            </a:pPr>
            <a:r>
              <a:t>Answered: 12 / 20  |  Insufficient context: 8 /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461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CAD6E4"/>
                </a:solidFill>
              </a:defRPr>
            </a:pPr>
            <a:r>
              <a:t>Correct refusals on unanswerable questions: 2 / 2</a:t>
            </a:r>
          </a:p>
          <a:p>
            <a:pPr>
              <a:defRPr sz="1900" b="0">
                <a:solidFill>
                  <a:srgbClr val="CAD6E4"/>
                </a:solidFill>
              </a:defRPr>
            </a:pPr>
            <a:r>
              <a:t>Primary gaps: retrieval recall, multi-part synthesis, Arabic coverage</a:t>
            </a:r>
          </a:p>
          <a:p>
            <a:pPr>
              <a:defRPr sz="1900" b="0">
                <a:solidFill>
                  <a:srgbClr val="CAD6E4"/>
                </a:solidFill>
              </a:defRPr>
            </a:pPr>
            <a:r>
              <a:t>Citation correctness not independently verified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035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94A3B8"/>
                </a:solidFill>
              </a:defRPr>
            </a:pPr>
            <a:r>
              <a:t>Single 14-page document; small benchmark, not general accuracy.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V2 Final Verification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21 October 2026</a:t>
            </a:r>
          </a:p>
          <a:p>
            <a:r>
              <a:t>Generation model: qwen2.5:7b</a:t>
            </a:r>
          </a:p>
          <a:p>
            <a:r>
              <a:t>Citation and relevance validation: qwen2.5:3b</a:t>
            </a:r>
          </a:p>
          <a:p>
            <a:r>
              <a:t>Automated tests: 333 / 333 passed</a:t>
            </a:r>
          </a:p>
          <a:p>
            <a:r>
              <a:t>Live negation test: HTTP 200, answered, two accepted cited facts</a:t>
            </a:r>
          </a:p>
          <a:p>
            <a:r>
              <a:t>Historical 20-question accuracy: 50% (12 October 2026; not rerun for V2)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